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46710" y="1920895"/>
            <a:ext cx="4298580" cy="3016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0"/>
              </a:spcAft>
              <a:defRPr sz="6400" b="1">
                <a:solidFill>
                  <a:srgbClr val="FFCF66"/>
                </a:solidFill>
                <a:latin typeface="Righteous"/>
              </a:defRPr>
            </a:pPr>
            <a:r>
              <a:rPr dirty="0"/>
              <a:t>MYUSIKA</a:t>
            </a:r>
          </a:p>
          <a:p>
            <a:pPr algn="ctr">
              <a:spcAft>
                <a:spcPts val="4000"/>
              </a:spcAft>
              <a:defRPr sz="2000">
                <a:solidFill>
                  <a:srgbClr val="FFF8EB"/>
                </a:solidFill>
                <a:latin typeface="Poppins"/>
              </a:defRPr>
            </a:pPr>
            <a:r>
              <a:rPr dirty="0"/>
              <a:t>Search a song. Strip the vocals. Sing it karaoke-style.</a:t>
            </a:r>
          </a:p>
          <a:p>
            <a:pPr algn="ctr">
              <a:defRPr sz="1400">
                <a:solidFill>
                  <a:srgbClr val="FFB84D"/>
                </a:solidFill>
                <a:latin typeface="Poppins"/>
              </a:defRPr>
            </a:pPr>
            <a:r>
              <a:rPr dirty="0"/>
              <a:t>Filipino-culture </a:t>
            </a:r>
            <a:r>
              <a:rPr dirty="0" err="1"/>
              <a:t>videoke</a:t>
            </a:r>
            <a:r>
              <a:rPr dirty="0"/>
              <a:t> web app for the AI era | </a:t>
            </a:r>
            <a:r>
              <a:rPr dirty="0" err="1"/>
              <a:t>Musicathon</a:t>
            </a:r>
            <a:r>
              <a:rPr dirty="0"/>
              <a:t> 2026 Submission</a:t>
            </a:r>
          </a:p>
          <a:p>
            <a:pPr algn="ctr">
              <a:defRPr sz="1400">
                <a:solidFill>
                  <a:srgbClr val="A098A5"/>
                </a:solidFill>
                <a:latin typeface="Poppins"/>
              </a:defRPr>
            </a:pPr>
            <a:r>
              <a:rPr dirty="0"/>
              <a:t>Built by Ethan Dreiz Baltazar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CF66"/>
                </a:solidFill>
                <a:latin typeface="Righteous"/>
              </a:defRPr>
            </a:pPr>
            <a:r>
              <a:t>The Heartbeat of Filipino Social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8000" b="1">
                <a:solidFill>
                  <a:srgbClr val="FFCF66"/>
                </a:solidFill>
                <a:latin typeface="Righteous"/>
              </a:defRPr>
            </a:pPr>
            <a:r>
              <a:t>90%+</a:t>
            </a:r>
          </a:p>
          <a:p>
            <a:pPr>
              <a:defRPr sz="2000">
                <a:solidFill>
                  <a:srgbClr val="FFF8EB"/>
                </a:solidFill>
                <a:latin typeface="Poppins"/>
              </a:defRPr>
            </a:pPr>
            <a:r>
              <a:t>of Filipino households own or regularly use a videoke machine during social gatherings.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64592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FFB84D"/>
                </a:solidFill>
                <a:latin typeface="Poppins"/>
              </a:defRPr>
            </a:pPr>
            <a:r>
              <a:t>The Sunday Videoke Ritual</a:t>
            </a:r>
          </a:p>
          <a:p>
            <a:pPr>
              <a:spcAft>
                <a:spcPts val="1000"/>
              </a:spcAft>
              <a:defRPr sz="1600">
                <a:solidFill>
                  <a:srgbClr val="FFF8EB"/>
                </a:solidFill>
                <a:latin typeface="Poppins"/>
              </a:defRPr>
            </a:pPr>
            <a:r>
              <a:t>You are gathered with family. The energy is high, and someone wants to sing a specific new indie hit or a classic OPM favorite.</a:t>
            </a:r>
          </a:p>
          <a:p>
            <a:pPr>
              <a:spcAft>
                <a:spcPts val="1000"/>
              </a:spcAft>
              <a:defRPr sz="1600">
                <a:solidFill>
                  <a:srgbClr val="FFF8EB"/>
                </a:solidFill>
                <a:latin typeface="Poppins"/>
              </a:defRPr>
            </a:pPr>
            <a:r>
              <a:t>You search online, only to find low-resolution videos, bad instrumental covers in the wrong key, or lyrics that roll by line-by-line with no indication of when to actually sing. The momentum dies.</a:t>
            </a:r>
          </a:p>
          <a:p>
            <a:pPr>
              <a:defRPr sz="1600">
                <a:solidFill>
                  <a:srgbClr val="FFF8EB"/>
                </a:solidFill>
                <a:latin typeface="Poppins"/>
              </a:defRPr>
            </a:pPr>
            <a:r>
              <a:t>The spontaneous joy of singing is constantly blocked by the friction of current tools. Videoke is our culture, but the tech is stuck in the past.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CF66"/>
                </a:solidFill>
                <a:latin typeface="Righteous"/>
              </a:defRPr>
            </a:pPr>
            <a:r>
              <a:t>Why Current Solutions Fail Singers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828800"/>
          </a:xfrm>
          <a:prstGeom prst="roundRect">
            <a:avLst/>
          </a:prstGeom>
          <a:solidFill>
            <a:srgbClr val="1A0B10"/>
          </a:solidFill>
          <a:ln w="12700">
            <a:solidFill>
              <a:srgbClr val="FF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FFB84D"/>
                </a:solidFill>
                <a:latin typeface="Poppins"/>
              </a:defRPr>
            </a:pPr>
            <a:r>
              <a:rPr dirty="0"/>
              <a:t>Hit-or-Miss Catalogs</a:t>
            </a:r>
          </a:p>
          <a:p>
            <a:pPr>
              <a:defRPr sz="1400">
                <a:solidFill>
                  <a:srgbClr val="FFF8EB"/>
                </a:solidFill>
                <a:latin typeface="Poppins"/>
              </a:defRPr>
            </a:pPr>
            <a:r>
              <a:rPr dirty="0"/>
              <a:t>Official </a:t>
            </a:r>
            <a:r>
              <a:rPr dirty="0" err="1"/>
              <a:t>videoke</a:t>
            </a:r>
            <a:r>
              <a:rPr dirty="0"/>
              <a:t> disks and streaming apps lack indie tracks, new releases, and many OPM (Original Pilipino Music) favorites.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1828800"/>
          </a:xfrm>
          <a:prstGeom prst="roundRect">
            <a:avLst/>
          </a:prstGeom>
          <a:solidFill>
            <a:srgbClr val="1A0B10"/>
          </a:solidFill>
          <a:ln w="12700">
            <a:solidFill>
              <a:srgbClr val="FF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FFB84D"/>
                </a:solidFill>
                <a:latin typeface="Poppins"/>
              </a:defRPr>
            </a:pPr>
            <a:r>
              <a:t>Coarse Line-Level Sync</a:t>
            </a:r>
          </a:p>
          <a:p>
            <a:pPr>
              <a:defRPr sz="1400">
                <a:solidFill>
                  <a:srgbClr val="FFF8EB"/>
                </a:solidFill>
                <a:latin typeface="Poppins"/>
              </a:defRPr>
            </a:pPr>
            <a:r>
              <a:t>Traditional displays scroll line-by-line. Without word-by-word timing sweeps, singers guess the exact pacing and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1828800"/>
          </a:xfrm>
          <a:prstGeom prst="roundRect">
            <a:avLst/>
          </a:prstGeom>
          <a:solidFill>
            <a:srgbClr val="1A0B10"/>
          </a:solidFill>
          <a:ln w="12700">
            <a:solidFill>
              <a:srgbClr val="FF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FFB84D"/>
                </a:solidFill>
                <a:latin typeface="Poppins"/>
              </a:defRPr>
            </a:pPr>
            <a:r>
              <a:t>Fragmented Workflows</a:t>
            </a:r>
          </a:p>
          <a:p>
            <a:pPr>
              <a:defRPr sz="1400">
                <a:solidFill>
                  <a:srgbClr val="FFF8EB"/>
                </a:solidFill>
                <a:latin typeface="Poppins"/>
              </a:defRPr>
            </a:pPr>
            <a:r>
              <a:t>Stripping vocals requires desktop tools, separate web services, or paying for standalone subscription apps before loading lyrics.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931920"/>
            <a:ext cx="5120640" cy="1828800"/>
          </a:xfrm>
          <a:prstGeom prst="roundRect">
            <a:avLst/>
          </a:prstGeom>
          <a:solidFill>
            <a:srgbClr val="1A0B10"/>
          </a:solidFill>
          <a:ln w="12700">
            <a:solidFill>
              <a:srgbClr val="FF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FFB84D"/>
                </a:solidFill>
                <a:latin typeface="Poppins"/>
              </a:defRPr>
            </a:pPr>
            <a:r>
              <a:t>No 'Bring Your Own'</a:t>
            </a:r>
          </a:p>
          <a:p>
            <a:pPr>
              <a:defRPr sz="1400">
                <a:solidFill>
                  <a:srgbClr val="FFF8EB"/>
                </a:solidFill>
                <a:latin typeface="Poppins"/>
              </a:defRPr>
            </a:pPr>
            <a:r>
              <a:t>If a track isn't in a pre-made videoke catalog, you are out of luck. You can't just upload your own files and 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CF66"/>
                </a:solidFill>
                <a:latin typeface="Righteous"/>
              </a:defRPr>
            </a:pPr>
            <a:r>
              <a:t>The Friction of Singing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728655" cy="1645920"/>
          </a:xfrm>
          <a:prstGeom prst="rect">
            <a:avLst/>
          </a:prstGeom>
          <a:solidFill>
            <a:srgbClr val="1A0B10"/>
          </a:solidFill>
          <a:ln w="1905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2200" i="1">
                <a:solidFill>
                  <a:srgbClr val="FFCF66"/>
                </a:solidFill>
                <a:latin typeface="Righteous"/>
              </a:defRPr>
            </a:pPr>
            <a:r>
              <a:rPr dirty="0"/>
              <a:t>"Turning an arbitrary song into a studio-grade, correctly-timed karaoke-ready track requires multiple disconnected, expensive tools."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3291840" cy="2560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B84D"/>
                </a:solidFill>
                <a:latin typeface="Poppins"/>
              </a:defRPr>
            </a:pPr>
            <a:r>
              <a:t>1. Vocal Extraction</a:t>
            </a:r>
          </a:p>
          <a:p>
            <a:pPr>
              <a:defRPr sz="1400">
                <a:solidFill>
                  <a:srgbClr val="FFF8EB"/>
                </a:solidFill>
                <a:latin typeface="Poppins"/>
              </a:defRPr>
            </a:pPr>
            <a:r>
              <a:t>Extract background instrumentals cleanly from any user audio track, automatically, on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3657600"/>
            <a:ext cx="3291840" cy="2560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B84D"/>
                </a:solidFill>
                <a:latin typeface="Poppins"/>
              </a:defRPr>
            </a:pPr>
            <a:r>
              <a:t>2. Precision Sync</a:t>
            </a:r>
          </a:p>
          <a:p>
            <a:pPr>
              <a:defRPr sz="1400">
                <a:solidFill>
                  <a:srgbClr val="FFF8EB"/>
                </a:solidFill>
                <a:latin typeface="Poppins"/>
              </a:defRPr>
            </a:pPr>
            <a:r>
              <a:t>Sync lyrics word-by-word with the music, even for tracks lacking official Musixmatch timing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3657600"/>
            <a:ext cx="3291840" cy="2560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B84D"/>
                </a:solidFill>
                <a:latin typeface="Poppins"/>
              </a:defRPr>
            </a:pPr>
            <a:r>
              <a:rPr dirty="0"/>
              <a:t>3. Seamless Playback</a:t>
            </a:r>
          </a:p>
          <a:p>
            <a:pPr>
              <a:defRPr sz="1400">
                <a:solidFill>
                  <a:srgbClr val="FFF8EB"/>
                </a:solidFill>
                <a:latin typeface="Poppins"/>
              </a:defRPr>
            </a:pPr>
            <a:r>
              <a:rPr dirty="0"/>
              <a:t>Provide real-time key shifts, layout scaling, timing calibration, and a gorgeous cinematic video environment.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CF66"/>
                </a:solidFill>
                <a:latin typeface="Righteous"/>
              </a:defRPr>
            </a:pPr>
            <a:r>
              <a:t>The Solution: Myusika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CF66"/>
                </a:solidFill>
                <a:latin typeface="Poppins"/>
              </a:defRPr>
            </a:pPr>
            <a:r>
              <a:t>• Universal Search</a:t>
            </a:r>
          </a:p>
          <a:p>
            <a:pPr>
              <a:spcAft>
                <a:spcPts val="14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Direct API integration with Musixmatch to fetch metadata, official lyrics, and original cover art.</a:t>
            </a:r>
          </a:p>
          <a:p>
            <a:pPr>
              <a:spcAft>
                <a:spcPts val="200"/>
              </a:spcAft>
              <a:defRPr sz="1800" b="1">
                <a:solidFill>
                  <a:srgbClr val="FFCF66"/>
                </a:solidFill>
                <a:latin typeface="Poppins"/>
              </a:defRPr>
            </a:pPr>
            <a:r>
              <a:t>• On-the-Fly Vocal Separation</a:t>
            </a:r>
          </a:p>
          <a:p>
            <a:pPr>
              <a:spcAft>
                <a:spcPts val="14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Instantly separates backing tracks using Demucs (local, studio-grade separation) and LALAL.AI with robust fallback logic.</a:t>
            </a:r>
          </a:p>
          <a:p>
            <a:pPr>
              <a:spcAft>
                <a:spcPts val="200"/>
              </a:spcAft>
              <a:defRPr sz="1800" b="1">
                <a:solidFill>
                  <a:srgbClr val="FFCF66"/>
                </a:solidFill>
                <a:latin typeface="Poppins"/>
              </a:defRPr>
            </a:pPr>
            <a:r>
              <a:t>• AI Forced Alignment</a:t>
            </a:r>
          </a:p>
          <a:p>
            <a:pPr>
              <a:spcAft>
                <a:spcPts val="14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Uses WhisperX to auto-generate word-level timing offsets for songs without official Musixmatch richsync timings.</a:t>
            </a:r>
          </a:p>
          <a:p>
            <a:pPr>
              <a:spcAft>
                <a:spcPts val="200"/>
              </a:spcAft>
              <a:defRPr sz="1800" b="1">
                <a:solidFill>
                  <a:srgbClr val="FFCF66"/>
                </a:solidFill>
                <a:latin typeface="Poppins"/>
              </a:defRPr>
            </a:pPr>
            <a:r>
              <a:t>• Cinematic Videoke Player</a:t>
            </a:r>
          </a:p>
          <a:p>
            <a:pPr>
              <a:spcAft>
                <a:spcPts val="14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Full-screen video playback with real-time key transposition (pitch shifting), lyric size scaling, and calibration offsets.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A0B10"/>
          </a:solidFill>
          <a:ln w="25400">
            <a:solidFill>
              <a:srgbClr val="FF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2400"/>
              </a:spcAft>
              <a:defRPr sz="1400" b="1">
                <a:solidFill>
                  <a:srgbClr val="A098A5"/>
                </a:solidFill>
                <a:latin typeface="Poppins"/>
              </a:defRPr>
            </a:pPr>
            <a:r>
              <a:t>[ Karaoke Player Screen ]</a:t>
            </a:r>
          </a:p>
          <a:p>
            <a:pPr algn="ctr">
              <a:spcAft>
                <a:spcPts val="800"/>
              </a:spcAft>
              <a:defRPr sz="2400">
                <a:solidFill>
                  <a:srgbClr val="FFCF66"/>
                </a:solidFill>
                <a:latin typeface="Righteous"/>
              </a:defRPr>
            </a:pPr>
            <a:r>
              <a:t>Ang huling el bimbo...</a:t>
            </a:r>
          </a:p>
          <a:p>
            <a:pPr algn="ctr">
              <a:spcAft>
                <a:spcPts val="4000"/>
              </a:spcAft>
              <a:defRPr sz="2000">
                <a:solidFill>
                  <a:srgbClr val="FFF8EB"/>
                </a:solidFill>
                <a:latin typeface="Righteous"/>
              </a:defRPr>
            </a:pPr>
            <a:r>
              <a:t>At nasasabik sa bagong umaga</a:t>
            </a:r>
          </a:p>
          <a:p>
            <a:pPr algn="ctr">
              <a:defRPr sz="1200">
                <a:solidFill>
                  <a:srgbClr val="FFB84D"/>
                </a:solidFill>
                <a:latin typeface="Poppins"/>
              </a:defRPr>
            </a:pPr>
            <a:r>
              <a:t>Key Shift: -2  |  Font Size: Large  |  Audio: Vocal Removed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CF66"/>
                </a:solidFill>
                <a:latin typeface="Righteous"/>
              </a:defRPr>
            </a:pPr>
            <a:r>
              <a:t>Interactive Demo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A0B10"/>
          </a:solidFill>
          <a:ln w="1905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800"/>
              </a:spcAft>
              <a:defRPr sz="2200" b="1">
                <a:solidFill>
                  <a:srgbClr val="FFCF66"/>
                </a:solidFill>
                <a:latin typeface="Poppins"/>
              </a:defRPr>
            </a:pPr>
            <a:r>
              <a:t>1. Built-in Songs (Zero Setup)</a:t>
            </a:r>
          </a:p>
          <a:p>
            <a:pPr>
              <a:spcAft>
                <a:spcPts val="200"/>
              </a:spcAft>
              <a:defRPr sz="1800" b="1">
                <a:solidFill>
                  <a:srgbClr val="FFF8EB"/>
                </a:solidFill>
                <a:latin typeface="Poppins"/>
              </a:defRPr>
            </a:pPr>
            <a:r>
              <a:t>• Perfect</a:t>
            </a:r>
          </a:p>
          <a:p>
            <a:pPr>
              <a:spcAft>
                <a:spcPts val="1400"/>
              </a:spcAft>
              <a:defRPr sz="1400">
                <a:solidFill>
                  <a:srgbClr val="A098A5"/>
                </a:solidFill>
                <a:latin typeface="Poppins"/>
              </a:defRPr>
            </a:pPr>
            <a:r>
              <a:t>Ed Sheeran (Studio-grade richsync)</a:t>
            </a:r>
          </a:p>
          <a:p>
            <a:pPr>
              <a:spcAft>
                <a:spcPts val="200"/>
              </a:spcAft>
              <a:defRPr sz="1800" b="1">
                <a:solidFill>
                  <a:srgbClr val="FFF8EB"/>
                </a:solidFill>
                <a:latin typeface="Poppins"/>
              </a:defRPr>
            </a:pPr>
            <a:r>
              <a:t>• Ang Huling El Bimbo</a:t>
            </a:r>
          </a:p>
          <a:p>
            <a:pPr>
              <a:spcAft>
                <a:spcPts val="1400"/>
              </a:spcAft>
              <a:defRPr sz="1400">
                <a:solidFill>
                  <a:srgbClr val="A098A5"/>
                </a:solidFill>
                <a:latin typeface="Poppins"/>
              </a:defRPr>
            </a:pPr>
            <a:r>
              <a:t>Eraserheads (Studio-grade richsync)</a:t>
            </a:r>
          </a:p>
          <a:p>
            <a:pPr>
              <a:spcAft>
                <a:spcPts val="200"/>
              </a:spcAft>
              <a:defRPr sz="1800" b="1">
                <a:solidFill>
                  <a:srgbClr val="FFF8EB"/>
                </a:solidFill>
                <a:latin typeface="Poppins"/>
              </a:defRPr>
            </a:pPr>
            <a:r>
              <a:t>• Fly Me to the Moon</a:t>
            </a:r>
          </a:p>
          <a:p>
            <a:pPr>
              <a:spcAft>
                <a:spcPts val="1400"/>
              </a:spcAft>
              <a:defRPr sz="1400">
                <a:solidFill>
                  <a:srgbClr val="A098A5"/>
                </a:solidFill>
                <a:latin typeface="Poppins"/>
              </a:defRPr>
            </a:pPr>
            <a:r>
              <a:t>Frank Sinatra (Studio-grade richsync)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A0B10"/>
          </a:solidFill>
          <a:ln w="1905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800"/>
              </a:spcAft>
              <a:defRPr sz="2200" b="1">
                <a:solidFill>
                  <a:srgbClr val="FFCF66"/>
                </a:solidFill>
                <a:latin typeface="Poppins"/>
              </a:defRPr>
            </a:pPr>
            <a:r>
              <a:t>2. User-Uploaded Songs</a:t>
            </a:r>
          </a:p>
          <a:p>
            <a:pPr>
              <a:spcAft>
                <a:spcPts val="100"/>
              </a:spcAft>
              <a:defRPr sz="1600" b="1">
                <a:solidFill>
                  <a:srgbClr val="FFF8EB"/>
                </a:solidFill>
                <a:latin typeface="Poppins"/>
              </a:defRPr>
            </a:pPr>
            <a:r>
              <a:t>→ Drag &amp; Drop Upload</a:t>
            </a:r>
          </a:p>
          <a:p>
            <a:pPr>
              <a:spcAft>
                <a:spcPts val="1000"/>
              </a:spcAft>
              <a:defRPr sz="1300">
                <a:solidFill>
                  <a:srgbClr val="A098A5"/>
                </a:solidFill>
                <a:latin typeface="Poppins"/>
              </a:defRPr>
            </a:pPr>
            <a:r>
              <a:t>Supports MP3, WAV, M4A, OGG, FLAC up to 20MB.</a:t>
            </a:r>
          </a:p>
          <a:p>
            <a:pPr>
              <a:spcAft>
                <a:spcPts val="100"/>
              </a:spcAft>
              <a:defRPr sz="1600" b="1">
                <a:solidFill>
                  <a:srgbClr val="FFF8EB"/>
                </a:solidFill>
                <a:latin typeface="Poppins"/>
              </a:defRPr>
            </a:pPr>
            <a:r>
              <a:t>→ Demucs Background Process</a:t>
            </a:r>
          </a:p>
          <a:p>
            <a:pPr>
              <a:spcAft>
                <a:spcPts val="1000"/>
              </a:spcAft>
              <a:defRPr sz="1300">
                <a:solidFill>
                  <a:srgbClr val="A098A5"/>
                </a:solidFill>
                <a:latin typeface="Poppins"/>
              </a:defRPr>
            </a:pPr>
            <a:r>
              <a:t>Splits vocals locally in 30-90s on server/host machine.</a:t>
            </a:r>
          </a:p>
          <a:p>
            <a:pPr>
              <a:spcAft>
                <a:spcPts val="100"/>
              </a:spcAft>
              <a:defRPr sz="1600" b="1">
                <a:solidFill>
                  <a:srgbClr val="FFF8EB"/>
                </a:solidFill>
                <a:latin typeface="Poppins"/>
              </a:defRPr>
            </a:pPr>
            <a:r>
              <a:t>→ WhisperX Forced Alignment</a:t>
            </a:r>
          </a:p>
          <a:p>
            <a:pPr>
              <a:spcAft>
                <a:spcPts val="1000"/>
              </a:spcAft>
              <a:defRPr sz="1300">
                <a:solidFill>
                  <a:srgbClr val="A098A5"/>
                </a:solidFill>
                <a:latin typeface="Poppins"/>
              </a:defRPr>
            </a:pPr>
            <a:r>
              <a:t>Auto-aligns lyrics word-by-word if no official sync exists.</a:t>
            </a:r>
          </a:p>
          <a:p>
            <a:pPr>
              <a:spcAft>
                <a:spcPts val="100"/>
              </a:spcAft>
              <a:defRPr sz="1600" b="1">
                <a:solidFill>
                  <a:srgbClr val="FFF8EB"/>
                </a:solidFill>
                <a:latin typeface="Poppins"/>
              </a:defRPr>
            </a:pPr>
            <a:r>
              <a:t>→ Database Repertoire Cache</a:t>
            </a:r>
          </a:p>
          <a:p>
            <a:pPr>
              <a:spcAft>
                <a:spcPts val="1000"/>
              </a:spcAft>
              <a:defRPr sz="1300">
                <a:solidFill>
                  <a:srgbClr val="A098A5"/>
                </a:solidFill>
                <a:latin typeface="Poppins"/>
              </a:defRPr>
            </a:pPr>
            <a:r>
              <a:t>Automatically saves the track to the user's Library.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CF66"/>
                </a:solidFill>
                <a:latin typeface="Righteous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743200" cy="1005840"/>
          </a:xfrm>
          <a:prstGeom prst="roundRect">
            <a:avLst/>
          </a:prstGeom>
          <a:solidFill>
            <a:srgbClr val="1A0B10"/>
          </a:solidFill>
          <a:ln w="1905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600" b="1">
                <a:solidFill>
                  <a:srgbClr val="FFB84D"/>
                </a:solidFill>
                <a:latin typeface="Poppins"/>
              </a:defRPr>
            </a:pPr>
            <a:r>
              <a:t>1. Built-in Tracks</a:t>
            </a:r>
          </a:p>
          <a:p>
            <a:pPr algn="ctr">
              <a:defRPr sz="1200">
                <a:solidFill>
                  <a:srgbClr val="FFF8EB"/>
                </a:solidFill>
                <a:latin typeface="Poppins"/>
              </a:defRPr>
            </a:pPr>
            <a:r>
              <a:t>Pre-loaded 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2743200" cy="1005840"/>
          </a:xfrm>
          <a:prstGeom prst="roundRect">
            <a:avLst/>
          </a:prstGeom>
          <a:solidFill>
            <a:srgbClr val="1A0B10"/>
          </a:solidFill>
          <a:ln w="1905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600" b="1">
                <a:solidFill>
                  <a:srgbClr val="FFB84D"/>
                </a:solidFill>
                <a:latin typeface="Poppins"/>
              </a:defRPr>
            </a:pPr>
            <a:r>
              <a:t>2. Musixmatch API</a:t>
            </a:r>
          </a:p>
          <a:p>
            <a:pPr algn="ctr">
              <a:defRPr sz="1200">
                <a:solidFill>
                  <a:srgbClr val="FFF8EB"/>
                </a:solidFill>
                <a:latin typeface="Poppins"/>
              </a:defRPr>
            </a:pPr>
            <a:r>
              <a:t>Metadata &amp; lyrics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2743200" cy="1005840"/>
          </a:xfrm>
          <a:prstGeom prst="roundRect">
            <a:avLst/>
          </a:prstGeom>
          <a:solidFill>
            <a:srgbClr val="1A0B10"/>
          </a:solidFill>
          <a:ln w="1905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600" b="1">
                <a:solidFill>
                  <a:srgbClr val="FFB84D"/>
                </a:solidFill>
                <a:latin typeface="Poppins"/>
              </a:defRPr>
            </a:pPr>
            <a:r>
              <a:t>3. Custom Audio</a:t>
            </a:r>
          </a:p>
          <a:p>
            <a:pPr algn="ctr">
              <a:defRPr sz="1200">
                <a:solidFill>
                  <a:srgbClr val="FFF8EB"/>
                </a:solidFill>
                <a:latin typeface="Poppins"/>
              </a:defRPr>
            </a:pPr>
            <a:r>
              <a:t>User file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297562"/>
            <a:ext cx="2743200" cy="1005840"/>
          </a:xfrm>
          <a:prstGeom prst="roundRect">
            <a:avLst/>
          </a:prstGeom>
          <a:solidFill>
            <a:srgbClr val="1A0B10"/>
          </a:solidFill>
          <a:ln w="19050">
            <a:solidFill>
              <a:srgbClr val="FF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600" b="1">
                <a:solidFill>
                  <a:srgbClr val="FFCF66"/>
                </a:solidFill>
                <a:latin typeface="Poppins"/>
              </a:defRPr>
            </a:pPr>
            <a:r>
              <a:rPr dirty="0"/>
              <a:t>AI Separation</a:t>
            </a:r>
          </a:p>
          <a:p>
            <a:pPr algn="ctr">
              <a:defRPr sz="1200">
                <a:solidFill>
                  <a:srgbClr val="FFF8EB"/>
                </a:solidFill>
                <a:latin typeface="Poppins"/>
              </a:defRPr>
            </a:pPr>
            <a:r>
              <a:rPr dirty="0" err="1"/>
              <a:t>Demucs</a:t>
            </a:r>
            <a:r>
              <a:rPr dirty="0"/>
              <a:t> / LALAL.AI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474720"/>
            <a:ext cx="2743200" cy="1005840"/>
          </a:xfrm>
          <a:prstGeom prst="roundRect">
            <a:avLst/>
          </a:prstGeom>
          <a:solidFill>
            <a:srgbClr val="1A0B10"/>
          </a:solidFill>
          <a:ln w="19050">
            <a:solidFill>
              <a:srgbClr val="FF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600" b="1">
                <a:solidFill>
                  <a:srgbClr val="FFCF66"/>
                </a:solidFill>
                <a:latin typeface="Poppins"/>
              </a:defRPr>
            </a:pPr>
            <a:r>
              <a:t>AI Forced Alignment</a:t>
            </a:r>
          </a:p>
          <a:p>
            <a:pPr algn="ctr">
              <a:defRPr sz="1200">
                <a:solidFill>
                  <a:srgbClr val="FFF8EB"/>
                </a:solidFill>
                <a:latin typeface="Poppins"/>
              </a:defRPr>
            </a:pPr>
            <a:r>
              <a:t>WhisperX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2743200" cy="1005840"/>
          </a:xfrm>
          <a:prstGeom prst="roundRect">
            <a:avLst/>
          </a:prstGeom>
          <a:solidFill>
            <a:srgbClr val="1A0B10"/>
          </a:solidFill>
          <a:ln w="19050">
            <a:solidFill>
              <a:srgbClr val="FFF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600" b="1">
                <a:solidFill>
                  <a:srgbClr val="FFF8EB"/>
                </a:solidFill>
                <a:latin typeface="Poppins"/>
              </a:defRPr>
            </a:pPr>
            <a:r>
              <a:t>Karaoke Player</a:t>
            </a:r>
          </a:p>
          <a:p>
            <a:pPr algn="ctr">
              <a:defRPr sz="1200">
                <a:solidFill>
                  <a:srgbClr val="FFF8EB"/>
                </a:solidFill>
                <a:latin typeface="Poppins"/>
              </a:defRPr>
            </a:pPr>
            <a:r>
              <a:t>Web Audio API key shifts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2743200" cy="1005840"/>
          </a:xfrm>
          <a:prstGeom prst="roundRect">
            <a:avLst/>
          </a:prstGeom>
          <a:solidFill>
            <a:srgbClr val="1A0B10"/>
          </a:solidFill>
          <a:ln w="19050">
            <a:solidFill>
              <a:srgbClr val="FFF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600" b="1">
                <a:solidFill>
                  <a:srgbClr val="FFF8EB"/>
                </a:solidFill>
                <a:latin typeface="Poppins"/>
              </a:defRPr>
            </a:pPr>
            <a:r>
              <a:t>Songs Repertoire</a:t>
            </a:r>
          </a:p>
          <a:p>
            <a:pPr algn="ctr">
              <a:defRPr sz="1200">
                <a:solidFill>
                  <a:srgbClr val="FFF8EB"/>
                </a:solidFill>
                <a:latin typeface="Poppins"/>
              </a:defRPr>
            </a:pPr>
            <a:r>
              <a:t>Neon Postgres /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828741"/>
            <a:ext cx="347472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FFCF66"/>
                </a:solidFill>
                <a:latin typeface="Poppins"/>
              </a:defRPr>
            </a:pPr>
            <a:r>
              <a:rPr dirty="0"/>
              <a:t>Modular Pipeline:</a:t>
            </a:r>
          </a:p>
          <a:p>
            <a:pPr>
              <a:defRPr sz="1300">
                <a:solidFill>
                  <a:srgbClr val="A098A5"/>
                </a:solidFill>
                <a:latin typeface="Poppins"/>
              </a:defRPr>
            </a:pPr>
            <a:r>
              <a:rPr dirty="0"/>
              <a:t>Decouples resource-heavy Python separation &amp; alignment tasks from </a:t>
            </a:r>
            <a:r>
              <a:rPr dirty="0" err="1"/>
              <a:t>Vercel</a:t>
            </a:r>
            <a:r>
              <a:rPr dirty="0"/>
              <a:t> hosting, allowing local or serverless-GPU scalability.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CF66"/>
                </a:solidFill>
                <a:latin typeface="Righteous"/>
              </a:defRPr>
            </a:pPr>
            <a:r>
              <a:t>The Theater &amp; Spotlight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645920" cy="1097280"/>
          </a:xfrm>
          <a:prstGeom prst="rect">
            <a:avLst/>
          </a:prstGeom>
          <a:solidFill>
            <a:srgbClr val="120913"/>
          </a:solidFill>
          <a:ln w="12700">
            <a:solidFill>
              <a:srgbClr val="FFF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6459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>
                <a:solidFill>
                  <a:srgbClr val="FFF8EB"/>
                </a:solidFill>
                <a:latin typeface="Poppins"/>
              </a:defRPr>
            </a:pPr>
            <a:r>
              <a:t>Plum Background</a:t>
            </a:r>
            <a:br/>
            <a:r>
              <a:t>#120913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645920"/>
            <a:ext cx="1645920" cy="1097280"/>
          </a:xfrm>
          <a:prstGeom prst="rect">
            <a:avLst/>
          </a:prstGeom>
          <a:solidFill>
            <a:srgbClr val="1A0B10"/>
          </a:solidFill>
          <a:ln w="12700">
            <a:solidFill>
              <a:srgbClr val="FFF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0" y="2834640"/>
            <a:ext cx="16459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>
                <a:solidFill>
                  <a:srgbClr val="FFF8EB"/>
                </a:solidFill>
                <a:latin typeface="Poppins"/>
              </a:defRPr>
            </a:pPr>
            <a:r>
              <a:t>Surface Panel</a:t>
            </a:r>
            <a:br/>
            <a:r>
              <a:t>#1A0B10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1645920" cy="1097280"/>
          </a:xfrm>
          <a:prstGeom prst="rect">
            <a:avLst/>
          </a:prstGeom>
          <a:solidFill>
            <a:srgbClr val="FFCF66"/>
          </a:solidFill>
          <a:ln w="12700">
            <a:solidFill>
              <a:srgbClr val="FFF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2834640"/>
            <a:ext cx="16459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>
                <a:solidFill>
                  <a:srgbClr val="FFF8EB"/>
                </a:solidFill>
                <a:latin typeface="Poppins"/>
              </a:defRPr>
            </a:pPr>
            <a:r>
              <a:t>Spotlight Gold</a:t>
            </a:r>
            <a:br/>
            <a:r>
              <a:t>#FFCF66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FCF66"/>
                </a:solidFill>
                <a:latin typeface="Poppins"/>
              </a:defRPr>
            </a:pPr>
            <a:r>
              <a:t>Visual &amp; UX Philosophy</a:t>
            </a:r>
          </a:p>
          <a:p>
            <a:pPr>
              <a:spcAft>
                <a:spcPts val="200"/>
              </a:spcAft>
              <a:defRPr sz="1600" b="1">
                <a:solidFill>
                  <a:srgbClr val="FFB84D"/>
                </a:solidFill>
                <a:latin typeface="Poppins"/>
              </a:defRPr>
            </a:pPr>
            <a:r>
              <a:t>• OLED Dark Mode + Velvet Curtain</a:t>
            </a:r>
          </a:p>
          <a:p>
            <a:pPr>
              <a:spcAft>
                <a:spcPts val="1200"/>
              </a:spcAft>
              <a:defRPr sz="1300">
                <a:solidFill>
                  <a:srgbClr val="FFF8EB"/>
                </a:solidFill>
                <a:latin typeface="Poppins"/>
              </a:defRPr>
            </a:pPr>
            <a:r>
              <a:t>Utilizes deep plum background colors to match the warm, dim lighting of professional karaoke stages, enhancing eye comfort.</a:t>
            </a:r>
          </a:p>
          <a:p>
            <a:pPr>
              <a:spcAft>
                <a:spcPts val="200"/>
              </a:spcAft>
              <a:defRPr sz="1600" b="1">
                <a:solidFill>
                  <a:srgbClr val="FFB84D"/>
                </a:solidFill>
                <a:latin typeface="Poppins"/>
              </a:defRPr>
            </a:pPr>
            <a:r>
              <a:t>• Spotlight Gold Accent Color</a:t>
            </a:r>
          </a:p>
          <a:p>
            <a:pPr>
              <a:spcAft>
                <a:spcPts val="1200"/>
              </a:spcAft>
              <a:defRPr sz="1300">
                <a:solidFill>
                  <a:srgbClr val="FFF8EB"/>
                </a:solidFill>
                <a:latin typeface="Poppins"/>
              </a:defRPr>
            </a:pPr>
            <a:r>
              <a:t>Directs visual focus straight to the current line being sung, reflecting the thrill of performing under the spotlight.</a:t>
            </a:r>
          </a:p>
          <a:p>
            <a:pPr>
              <a:spcAft>
                <a:spcPts val="200"/>
              </a:spcAft>
              <a:defRPr sz="1600" b="1">
                <a:solidFill>
                  <a:srgbClr val="FFB84D"/>
                </a:solidFill>
                <a:latin typeface="Poppins"/>
              </a:defRPr>
            </a:pPr>
            <a:r>
              <a:t>• Typography Pairings</a:t>
            </a:r>
          </a:p>
          <a:p>
            <a:pPr>
              <a:spcAft>
                <a:spcPts val="1200"/>
              </a:spcAft>
              <a:defRPr sz="1300">
                <a:solidFill>
                  <a:srgbClr val="FFF8EB"/>
                </a:solidFill>
                <a:latin typeface="Poppins"/>
              </a:defRPr>
            </a:pPr>
            <a:r>
              <a:t>Righteous headings represent bold, retro-videoke branding, while Poppins body text ensures clean lyric readability during fast tempos.</a:t>
            </a:r>
          </a:p>
          <a:p>
            <a:pPr>
              <a:spcAft>
                <a:spcPts val="200"/>
              </a:spcAft>
              <a:defRPr sz="1600" b="1">
                <a:solidFill>
                  <a:srgbClr val="FFB84D"/>
                </a:solidFill>
                <a:latin typeface="Poppins"/>
              </a:defRPr>
            </a:pPr>
            <a:r>
              <a:t>• Micro-Animations</a:t>
            </a:r>
          </a:p>
          <a:p>
            <a:pPr>
              <a:spcAft>
                <a:spcPts val="1200"/>
              </a:spcAft>
              <a:defRPr sz="1300">
                <a:solidFill>
                  <a:srgbClr val="FFF8EB"/>
                </a:solidFill>
                <a:latin typeface="Poppins"/>
              </a:defRPr>
            </a:pPr>
            <a:r>
              <a:t>150-300ms transitions on all interactive components to ensure a premium feel with zero sudden layout shifts.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CF66"/>
                </a:solidFill>
                <a:latin typeface="Righteous"/>
              </a:defRPr>
            </a:pPr>
            <a:r>
              <a:t>Scaling Myusika to the Main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CF66"/>
                </a:solidFill>
                <a:latin typeface="Poppins"/>
              </a:defRPr>
            </a:pPr>
            <a:r>
              <a:t>★ Cloud-Based GPU Worker Pool</a:t>
            </a:r>
          </a:p>
          <a:p>
            <a:pPr>
              <a:spcAft>
                <a:spcPts val="14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Offload Demucs and WhisperX from local machines to serverless GPU infrastructure (e.g., Modal, RunPod) to support concurrent cloud vocal separation for thousands of users globally.</a:t>
            </a:r>
          </a:p>
          <a:p>
            <a:pPr>
              <a:spcAft>
                <a:spcPts val="200"/>
              </a:spcAft>
              <a:defRPr sz="1800" b="1">
                <a:solidFill>
                  <a:srgbClr val="FFCF66"/>
                </a:solidFill>
                <a:latin typeface="Poppins"/>
              </a:defRPr>
            </a:pPr>
            <a:r>
              <a:t>★ Multi-Singer Social Rooms</a:t>
            </a:r>
          </a:p>
          <a:p>
            <a:pPr>
              <a:spcAft>
                <a:spcPts val="14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Enable real-time shared queue systems where friends can join a room via QR code, queue songs from their phones, and use mobile devices as wireless remote microphones.</a:t>
            </a:r>
          </a:p>
          <a:p>
            <a:pPr>
              <a:spcAft>
                <a:spcPts val="200"/>
              </a:spcAft>
              <a:defRPr sz="1800" b="1">
                <a:solidFill>
                  <a:srgbClr val="FFCF66"/>
                </a:solidFill>
                <a:latin typeface="Poppins"/>
              </a:defRPr>
            </a:pPr>
            <a:r>
              <a:t>★ Vocal Pitch Analysis &amp; Gamification</a:t>
            </a:r>
          </a:p>
          <a:p>
            <a:pPr>
              <a:spcAft>
                <a:spcPts val="14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Implement real-time vocal pitch detection (fundamental frequency estimation via Web Audio API) to overlay singer accuracy graphs and gamify videoke with live scoring.</a:t>
            </a:r>
          </a:p>
          <a:p>
            <a:pPr>
              <a:spcAft>
                <a:spcPts val="200"/>
              </a:spcAft>
              <a:defRPr sz="1800" b="1">
                <a:solidFill>
                  <a:srgbClr val="FFCF66"/>
                </a:solidFill>
                <a:latin typeface="Poppins"/>
              </a:defRPr>
            </a:pPr>
            <a:r>
              <a:t>★ Direct URL / Stream Extraction</a:t>
            </a:r>
          </a:p>
          <a:p>
            <a:pPr>
              <a:spcAft>
                <a:spcPts val="14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Enable direct imports from streaming URLs (e.g., YouTube, Spotify) allowing users to separate backing tracks instantly without needing to manually source and download audio 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CF66"/>
                </a:solidFill>
                <a:latin typeface="Righteous"/>
              </a:defRPr>
            </a:pPr>
            <a:r>
              <a:t>Shifting the Videoke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A0B10"/>
          </a:solidFill>
          <a:ln w="19050">
            <a:solidFill>
              <a:srgbClr val="FF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1600"/>
              </a:spcAft>
              <a:defRPr sz="2000" b="1">
                <a:solidFill>
                  <a:srgbClr val="FFB84D"/>
                </a:solidFill>
                <a:latin typeface="Poppins"/>
              </a:defRPr>
            </a:pPr>
            <a:r>
              <a:t>Democratizing Music</a:t>
            </a:r>
          </a:p>
          <a:p>
            <a:pPr>
              <a:spcAft>
                <a:spcPts val="10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• No longer limited to static, pre-produced karaoke disks.</a:t>
            </a:r>
          </a:p>
          <a:p>
            <a:pPr>
              <a:spcAft>
                <a:spcPts val="10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• Any custom audio file instantly becomes a karaoke track.</a:t>
            </a:r>
          </a:p>
          <a:p>
            <a:pPr>
              <a:spcAft>
                <a:spcPts val="10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• Empowers indie artists and niche local OPM singers.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A0B10"/>
          </a:solidFill>
          <a:ln w="19050">
            <a:solidFill>
              <a:srgbClr val="FF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1600"/>
              </a:spcAft>
              <a:defRPr sz="2000" b="1">
                <a:solidFill>
                  <a:srgbClr val="FFB84D"/>
                </a:solidFill>
                <a:latin typeface="Poppins"/>
              </a:defRPr>
            </a:pPr>
            <a:r>
              <a:t>Pro-Grade Controls</a:t>
            </a:r>
          </a:p>
          <a:p>
            <a:pPr>
              <a:spcAft>
                <a:spcPts val="10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• Brings complex DSP (pitch shifting and key transposing) straight to the web.</a:t>
            </a:r>
          </a:p>
          <a:p>
            <a:pPr>
              <a:spcAft>
                <a:spcPts val="10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• Adjustable calibration offsets to fix audio latency on different hardware.</a:t>
            </a:r>
          </a:p>
          <a:p>
            <a:pPr>
              <a:spcAft>
                <a:spcPts val="10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• Word-level sweep timing highlights.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A0B10"/>
          </a:solidFill>
          <a:ln w="19050">
            <a:solidFill>
              <a:srgbClr val="FF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1600"/>
              </a:spcAft>
              <a:defRPr sz="2000" b="1">
                <a:solidFill>
                  <a:srgbClr val="FFB84D"/>
                </a:solidFill>
                <a:latin typeface="Poppins"/>
              </a:defRPr>
            </a:pPr>
            <a:r>
              <a:t>Library Repertoire</a:t>
            </a:r>
          </a:p>
          <a:p>
            <a:pPr>
              <a:spcAft>
                <a:spcPts val="10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• Automatically saves processed songs to the personal 'My Songs' list.</a:t>
            </a:r>
          </a:p>
          <a:p>
            <a:pPr>
              <a:spcAft>
                <a:spcPts val="10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• Session history makes returning to your favorites frictionless.</a:t>
            </a:r>
          </a:p>
          <a:p>
            <a:pPr>
              <a:spcAft>
                <a:spcPts val="1000"/>
              </a:spcAft>
              <a:defRPr sz="1400">
                <a:solidFill>
                  <a:srgbClr val="FFF8EB"/>
                </a:solidFill>
                <a:latin typeface="Poppins"/>
              </a:defRPr>
            </a:pPr>
            <a:r>
              <a:t>• Ready-made demo tracks allow immediate setup-free access.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1BEA2-ED85-9045-9988-C46207A98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48EC1C-6B5C-7312-5A1C-AC6720F95FB1}"/>
              </a:ext>
            </a:extLst>
          </p:cNvPr>
          <p:cNvSpPr txBox="1"/>
          <p:nvPr/>
        </p:nvSpPr>
        <p:spPr>
          <a:xfrm>
            <a:off x="1797420" y="2090172"/>
            <a:ext cx="4298580" cy="2677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0"/>
              </a:spcAft>
              <a:defRPr sz="6400" b="1">
                <a:solidFill>
                  <a:srgbClr val="FFCF66"/>
                </a:solidFill>
                <a:latin typeface="Righteous"/>
              </a:defRPr>
            </a:pPr>
            <a:r>
              <a:rPr dirty="0"/>
              <a:t>MYUSIKA</a:t>
            </a:r>
          </a:p>
          <a:p>
            <a:pPr algn="ctr">
              <a:spcAft>
                <a:spcPts val="4000"/>
              </a:spcAft>
              <a:defRPr sz="2000">
                <a:solidFill>
                  <a:srgbClr val="FFF8EB"/>
                </a:solidFill>
                <a:latin typeface="Poppins"/>
              </a:defRPr>
            </a:pPr>
            <a:r>
              <a:rPr dirty="0"/>
              <a:t>Search a song. Strip the vocals. Sing it karaoke-style.</a:t>
            </a:r>
            <a:endParaRPr lang="en-US" dirty="0"/>
          </a:p>
          <a:p>
            <a:pPr algn="ctr">
              <a:spcAft>
                <a:spcPts val="4000"/>
              </a:spcAft>
              <a:defRPr sz="2000">
                <a:solidFill>
                  <a:srgbClr val="FFF8EB"/>
                </a:solidFill>
                <a:latin typeface="Poppins"/>
              </a:defRPr>
            </a:pPr>
            <a:r>
              <a:rPr dirty="0"/>
              <a:t>Built by Ethan Dreiz Baltazar</a:t>
            </a:r>
          </a:p>
        </p:txBody>
      </p:sp>
      <p:pic>
        <p:nvPicPr>
          <p:cNvPr id="4" name="Picture 3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161B99B4-54A5-8B2A-D0C2-EF9694C65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365" y="1598448"/>
            <a:ext cx="3661103" cy="36611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52A67F-1B4F-D965-284E-73B6A8A86023}"/>
              </a:ext>
            </a:extLst>
          </p:cNvPr>
          <p:cNvSpPr txBox="1"/>
          <p:nvPr/>
        </p:nvSpPr>
        <p:spPr>
          <a:xfrm>
            <a:off x="7102364" y="1145628"/>
            <a:ext cx="3661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Linkedin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556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1023</Words>
  <Application>Microsoft Macintosh PowerPoint</Application>
  <PresentationFormat>Widescreen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Ethan Dreiz Baltazar</cp:lastModifiedBy>
  <cp:revision>2</cp:revision>
  <dcterms:created xsi:type="dcterms:W3CDTF">2013-01-27T09:14:16Z</dcterms:created>
  <dcterms:modified xsi:type="dcterms:W3CDTF">2026-06-21T23:21:54Z</dcterms:modified>
  <cp:category/>
</cp:coreProperties>
</file>